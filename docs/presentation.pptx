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1828800"/>
          </a:xfrm>
          <a:prstGeom prst="rect">
            <a:avLst/>
          </a:prstGeom>
          <a:solidFill>
            <a:srgbClr val="1A2F5A"/>
          </a:solidFill>
          <a:ln w="12700">
            <a:solidFill>
              <a:srgbClr val="C9A84C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22860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96012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Management System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457200" y="18745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Distributed Banking Operations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457200" y="2606040"/>
            <a:ext cx="594360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28346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BEC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Kissa Keith Ndiema  </a:t>
            </a:r>
            <a:pPr algn="l" indent="0" marL="0">
              <a:buNone/>
            </a:pPr>
            <a:r>
              <a:rPr lang="en-US" sz="1400" dirty="0">
                <a:solidFill>
                  <a:srgbClr val="BEC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2025/BCS/101/PS  |  End-user, Group A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3337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Simulating real-world banking roles in a student development team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Team – Group 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74320" y="1371600"/>
            <a:ext cx="1664208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371600"/>
            <a:ext cx="1664208" cy="16459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1691640"/>
            <a:ext cx="640080" cy="6400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47472" y="2468880"/>
            <a:ext cx="151790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Kissa Keith Ndiema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47472" y="3246120"/>
            <a:ext cx="151790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End-user (Testing &amp; Validation)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048256" y="1371600"/>
            <a:ext cx="1664208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048256" y="1371600"/>
            <a:ext cx="1664208" cy="16459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0" y="1691640"/>
            <a:ext cx="640080" cy="6400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121408" y="2468880"/>
            <a:ext cx="151790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Mugagga Lukyamuzi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2121408" y="3246120"/>
            <a:ext cx="151790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Administrator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3822192" y="1371600"/>
            <a:ext cx="1664208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3822192" y="1371600"/>
            <a:ext cx="1664208" cy="1645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4256" y="1691640"/>
            <a:ext cx="640080" cy="6400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3895344" y="2468880"/>
            <a:ext cx="151790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Sekasi Samuel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3895344" y="3246120"/>
            <a:ext cx="151790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Management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5596128" y="1371600"/>
            <a:ext cx="1664208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5596128" y="1371600"/>
            <a:ext cx="1664208" cy="1645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8192" y="1691640"/>
            <a:ext cx="640080" cy="64008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669280" y="2468880"/>
            <a:ext cx="151790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Murungi Emmanuel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5669280" y="3246120"/>
            <a:ext cx="151790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&amp; Customer Experience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7370064" y="1371600"/>
            <a:ext cx="1664208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7370064" y="1371600"/>
            <a:ext cx="1664208" cy="16459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82128" y="1691640"/>
            <a:ext cx="640080" cy="64008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7443216" y="2468880"/>
            <a:ext cx="151790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Lugonvu Joel Alvin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7443216" y="3246120"/>
            <a:ext cx="151790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Developer</a:t>
            </a:r>
            <a:endParaRPr lang="en-US" sz="1000" dirty="0"/>
          </a:p>
        </p:txBody>
      </p:sp>
      <p:sp>
        <p:nvSpPr>
          <p:cNvPr id="30" name="Text 23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simulated real banking roles during development.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Gaps in Multi-Branch Banking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4023360" cy="1417320"/>
          </a:xfrm>
          <a:prstGeom prst="rect">
            <a:avLst/>
          </a:prstGeom>
          <a:solidFill>
            <a:srgbClr val="1A2F5A"/>
          </a:solidFill>
          <a:ln w="19050">
            <a:solidFill>
              <a:srgbClr val="EF4444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27632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37160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Semi-Independent Branches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234440" y="178308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EC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Branches operate in silos without real-time coordination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754880" y="1234440"/>
            <a:ext cx="4023360" cy="1417320"/>
          </a:xfrm>
          <a:prstGeom prst="rect">
            <a:avLst/>
          </a:prstGeom>
          <a:solidFill>
            <a:srgbClr val="1A2F5A"/>
          </a:solidFill>
          <a:ln w="19050">
            <a:solidFill>
              <a:srgbClr val="F59E0B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627632"/>
            <a:ext cx="548640" cy="5486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623560" y="137160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Sync Delays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5623560" y="178308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EC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data is not instantly synchronized across locations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365760" y="2926080"/>
            <a:ext cx="4023360" cy="1417320"/>
          </a:xfrm>
          <a:prstGeom prst="rect">
            <a:avLst/>
          </a:prstGeom>
          <a:solidFill>
            <a:srgbClr val="1A2F5A"/>
          </a:solidFill>
          <a:ln w="19050">
            <a:solidFill>
              <a:srgbClr val="60A5FA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319272"/>
            <a:ext cx="548640" cy="5486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34440" y="306324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Verification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1234440" y="347472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EC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Human-driven processes introduce bottlenecks and delays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4754880" y="2926080"/>
            <a:ext cx="4023360" cy="1417320"/>
          </a:xfrm>
          <a:prstGeom prst="rect">
            <a:avLst/>
          </a:prstGeom>
          <a:solidFill>
            <a:srgbClr val="1A2F5A"/>
          </a:solidFill>
          <a:ln w="19050">
            <a:solidFill>
              <a:srgbClr val="F97316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3319272"/>
            <a:ext cx="548640" cy="54864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623560" y="306324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Error &amp; Fraud Risk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5623560" y="347472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EC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workflows elevate exposure to mistakes and fraud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365760" y="4572000"/>
            <a:ext cx="841248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548640" y="4599432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8C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Example: A deposit at Branch A may not reflect immediately at Branch B — causing reconciliation failures.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Objectives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335024"/>
            <a:ext cx="502920" cy="50292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3350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24128" y="1316736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 Operations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24128" y="1627632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Unify all branch data and processes into one authoritative system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066544"/>
            <a:ext cx="502920" cy="50292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0665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24128" y="2048256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Transaction Tracking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24128" y="2359152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every transaction as it happens — across all branches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798064"/>
            <a:ext cx="502920" cy="5029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7980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24128" y="2779776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Customer Data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24128" y="3090672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every branch has the same, up-to-date customer records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529584"/>
            <a:ext cx="502920" cy="50292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5295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24128" y="3511296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&amp; Risk Monitoring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24128" y="3822192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full audit trails and proactive risk management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4261104"/>
            <a:ext cx="502920" cy="50292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42611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24128" y="4242816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Manual Errors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24128" y="4553712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key workflows to minimize human error in transactions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Overview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8C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database system — all branches share one centralized database.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828800" cy="2011680"/>
          </a:xfrm>
          <a:prstGeom prst="rect">
            <a:avLst/>
          </a:prstGeom>
          <a:solidFill>
            <a:srgbClr val="1A2F5A"/>
          </a:solidFill>
          <a:ln w="19050">
            <a:solidFill>
              <a:srgbClr val="0EA5E9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1828800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265176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2651760" y="1554480"/>
            <a:ext cx="1828800" cy="2011680"/>
          </a:xfrm>
          <a:prstGeom prst="rect">
            <a:avLst/>
          </a:prstGeom>
          <a:solidFill>
            <a:srgbClr val="1A2F5A"/>
          </a:solidFill>
          <a:ln w="19050">
            <a:solidFill>
              <a:srgbClr val="C9A84C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6120" y="1828800"/>
            <a:ext cx="640080" cy="6400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651760" y="265176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4754880" y="1554480"/>
            <a:ext cx="1828800" cy="2011680"/>
          </a:xfrm>
          <a:prstGeom prst="rect">
            <a:avLst/>
          </a:prstGeom>
          <a:solidFill>
            <a:srgbClr val="1A2F5A"/>
          </a:solidFill>
          <a:ln w="19050">
            <a:solidFill>
              <a:srgbClr val="10B981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9240" y="1828800"/>
            <a:ext cx="640080" cy="6400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754880" y="265176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6858000" y="1554480"/>
            <a:ext cx="1828800" cy="2011680"/>
          </a:xfrm>
          <a:prstGeom prst="rect">
            <a:avLst/>
          </a:prstGeom>
          <a:solidFill>
            <a:srgbClr val="1A2F5A"/>
          </a:solidFill>
          <a:ln w="19050">
            <a:solidFill>
              <a:srgbClr val="A855F7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2360" y="1828800"/>
            <a:ext cx="640080" cy="64008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858000" y="265176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Branches</a:t>
            </a:r>
            <a:endParaRPr lang="en-US" sz="1400" dirty="0"/>
          </a:p>
        </p:txBody>
      </p:sp>
      <p:sp>
        <p:nvSpPr>
          <p:cNvPr id="17" name="Shape 11"/>
          <p:cNvSpPr/>
          <p:nvPr/>
        </p:nvSpPr>
        <p:spPr>
          <a:xfrm>
            <a:off x="2331720" y="2560320"/>
            <a:ext cx="320040" cy="0"/>
          </a:xfrm>
          <a:prstGeom prst="line">
            <a:avLst/>
          </a:prstGeom>
          <a:noFill/>
          <a:ln w="25400">
            <a:solidFill>
              <a:srgbClr val="C9A84C"/>
            </a:solidFill>
            <a:prstDash val="solid"/>
          </a:ln>
        </p:spPr>
      </p:sp>
      <p:sp>
        <p:nvSpPr>
          <p:cNvPr id="18" name="Shape 12"/>
          <p:cNvSpPr/>
          <p:nvPr/>
        </p:nvSpPr>
        <p:spPr>
          <a:xfrm>
            <a:off x="4434840" y="2560320"/>
            <a:ext cx="320040" cy="0"/>
          </a:xfrm>
          <a:prstGeom prst="line">
            <a:avLst/>
          </a:prstGeom>
          <a:noFill/>
          <a:ln w="25400">
            <a:solidFill>
              <a:srgbClr val="C9A84C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6537960" y="2560320"/>
            <a:ext cx="320040" cy="0"/>
          </a:xfrm>
          <a:prstGeom prst="line">
            <a:avLst/>
          </a:prstGeom>
          <a:noFill/>
          <a:ln w="25400">
            <a:solidFill>
              <a:srgbClr val="C9A84C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548640" y="3794760"/>
            <a:ext cx="8046720" cy="1051560"/>
          </a:xfrm>
          <a:prstGeom prst="rect">
            <a:avLst/>
          </a:prstGeom>
          <a:solidFill>
            <a:srgbClr val="0D2547"/>
          </a:solidFill>
          <a:ln w="19050">
            <a:solidFill>
              <a:srgbClr val="C9A84C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3931920"/>
            <a:ext cx="640080" cy="64008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600200" y="388620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Database</a:t>
            </a:r>
            <a:endParaRPr lang="en-US" sz="1600" dirty="0"/>
          </a:p>
        </p:txBody>
      </p:sp>
      <p:sp>
        <p:nvSpPr>
          <p:cNvPr id="23" name="Text 16"/>
          <p:cNvSpPr/>
          <p:nvPr/>
        </p:nvSpPr>
        <p:spPr>
          <a:xfrm>
            <a:off x="1600200" y="4297680"/>
            <a:ext cx="6583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EC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source of truth — all branches read from and write to one shared relational database.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Environment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26517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25880"/>
            <a:ext cx="2651760" cy="1828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1645920"/>
            <a:ext cx="640080" cy="6400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24231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Fedora Linux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94360" y="2926080"/>
            <a:ext cx="23774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system platform — open-source and enterprise-grade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337560" y="1325880"/>
            <a:ext cx="26517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337560" y="1325880"/>
            <a:ext cx="2651760" cy="182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1645920"/>
            <a:ext cx="640080" cy="6400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29000" y="24231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(SQL)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474720" y="2926080"/>
            <a:ext cx="23774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database engine managing all banking records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217920" y="1325880"/>
            <a:ext cx="26517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217920" y="1325880"/>
            <a:ext cx="2651760" cy="1828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1645920"/>
            <a:ext cx="640080" cy="6400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309360" y="24231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Terminal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6355080" y="2926080"/>
            <a:ext cx="23774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direct database interaction via command-line interface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"Used CLI for fast and direct database interaction — maximizing development efficiency."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Schema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2651760" cy="1737360"/>
          </a:xfrm>
          <a:prstGeom prst="rect">
            <a:avLst/>
          </a:prstGeom>
          <a:solidFill>
            <a:srgbClr val="1A2F5A"/>
          </a:solidFill>
          <a:ln w="19050">
            <a:solidFill>
              <a:srgbClr val="0EA5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97280"/>
            <a:ext cx="2651760" cy="34747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33856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75488" y="1508760"/>
            <a:ext cx="2432304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BEC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customer_id (PK)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BEC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BEC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branch_id (FK)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91840" y="1097280"/>
            <a:ext cx="2651760" cy="1737360"/>
          </a:xfrm>
          <a:prstGeom prst="rect">
            <a:avLst/>
          </a:prstGeom>
          <a:solidFill>
            <a:srgbClr val="1A2F5A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91840" y="1097280"/>
            <a:ext cx="2651760" cy="34747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1133856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401568" y="1508760"/>
            <a:ext cx="2432304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BEC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account_id (PK)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BEC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customer_id (FK)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BEC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balance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17920" y="1097280"/>
            <a:ext cx="2651760" cy="1737360"/>
          </a:xfrm>
          <a:prstGeom prst="rect">
            <a:avLst/>
          </a:prstGeom>
          <a:solidFill>
            <a:srgbClr val="1A2F5A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1097280"/>
            <a:ext cx="2651760" cy="3474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1133856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27648" y="1508760"/>
            <a:ext cx="2432304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BEC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transaction_id (PK)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BEC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account_id (FK)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BEC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amount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BEC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1828800" y="3200400"/>
            <a:ext cx="2651760" cy="1737360"/>
          </a:xfrm>
          <a:prstGeom prst="rect">
            <a:avLst/>
          </a:prstGeom>
          <a:solidFill>
            <a:srgbClr val="1A2F5A"/>
          </a:solidFill>
          <a:ln w="19050">
            <a:solidFill>
              <a:srgbClr val="A855F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828800" y="3200400"/>
            <a:ext cx="2651760" cy="34747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828800" y="3236976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938528" y="3611880"/>
            <a:ext cx="2432304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BEC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branch_id (PK)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BEC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BEC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location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65760" y="466344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Relationships: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737360" y="4663440"/>
            <a:ext cx="7040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EC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→ Customers   |   Customer → Accounts   |   Account → Transactions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188720"/>
            <a:ext cx="347472" cy="347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05840" y="1161288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database eliminates data silos across branches</a:t>
            </a:r>
            <a:endParaRPr lang="en-US" sz="13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901952"/>
            <a:ext cx="347472" cy="34747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05840" y="187452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tracking reduces errors and supports fraud prevention</a:t>
            </a:r>
            <a:endParaRPr lang="en-US" sz="13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615184"/>
            <a:ext cx="347472" cy="34747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005840" y="2587752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schema ensures referential integrity between all entities</a:t>
            </a:r>
            <a:endParaRPr lang="en-US" sz="13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328416"/>
            <a:ext cx="347472" cy="34747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005840" y="3300984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CLI-first approach on Fedora Linux enabled rapid, efficient development</a:t>
            </a:r>
            <a:endParaRPr lang="en-US" sz="135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4041648"/>
            <a:ext cx="347472" cy="347472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005840" y="4014216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team successfully mirrored real-world banking system design</a:t>
            </a:r>
            <a:endParaRPr lang="en-US" sz="1350" dirty="0"/>
          </a:p>
        </p:txBody>
      </p:sp>
      <p:sp>
        <p:nvSpPr>
          <p:cNvPr id="14" name="Shape 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</p:spPr>
      </p:sp>
      <p:sp>
        <p:nvSpPr>
          <p:cNvPr id="15" name="Text 8"/>
          <p:cNvSpPr/>
          <p:nvPr/>
        </p:nvSpPr>
        <p:spPr>
          <a:xfrm>
            <a:off x="457200" y="4818888"/>
            <a:ext cx="8229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Management System  |  Group A  |  2025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Branch Management System for Distributed Banking Operations</dc:title>
  <dc:subject>PptxGenJS Presentation</dc:subject>
  <dc:creator>PptxGenJS</dc:creator>
  <cp:lastModifiedBy>PptxGenJS</cp:lastModifiedBy>
  <cp:revision>1</cp:revision>
  <dcterms:created xsi:type="dcterms:W3CDTF">2026-05-08T07:17:10Z</dcterms:created>
  <dcterms:modified xsi:type="dcterms:W3CDTF">2026-05-08T07:17:10Z</dcterms:modified>
</cp:coreProperties>
</file>